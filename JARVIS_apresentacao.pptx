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4A5051-B22F-4184-9EA1-2C46F7E715E4}">
  <a:tblStyle styleId="{3C4A5051-B22F-4184-9EA1-2C46F7E715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548640"/>
            <a:ext cx="109728" cy="109728"/>
          </a:xfrm>
          <a:prstGeom prst="ellipse">
            <a:avLst/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241280" y="822960"/>
            <a:ext cx="109728" cy="109728"/>
          </a:xfrm>
          <a:prstGeom prst="ellipse">
            <a:avLst/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881360" y="502920"/>
            <a:ext cx="109728" cy="109728"/>
          </a:xfrm>
          <a:prstGeom prst="ellipse">
            <a:avLst/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430000" y="1005840"/>
            <a:ext cx="109728" cy="109728"/>
          </a:xfrm>
          <a:prstGeom prst="ellipse">
            <a:avLst/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966960" y="1371600"/>
            <a:ext cx="109728" cy="109728"/>
          </a:xfrm>
          <a:prstGeom prst="ellipse">
            <a:avLst/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789920" y="1463040"/>
            <a:ext cx="109728" cy="109728"/>
          </a:xfrm>
          <a:prstGeom prst="ellipse">
            <a:avLst/>
          </a:prstGeom>
          <a:solidFill>
            <a:srgbClr val="243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22960" y="1874520"/>
            <a:ext cx="1188720" cy="11887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286000" y="1828800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JARVIS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31720" y="2880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Assistente de voz embarcado em ESP32 — projeto concluído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331720" y="34290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0D6"/>
                </a:solidFill>
                <a:latin typeface="Calibri"/>
                <a:ea typeface="Calibri"/>
                <a:cs typeface="Calibri"/>
                <a:sym typeface="Calibri"/>
              </a:rPr>
              <a:t>Reprodução de áudio validada em hardware, backend completo com fila e transcrição de voz (STT), e fluxo ponta a ponta testado com gravações reais.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331720" y="4434840"/>
            <a:ext cx="640080" cy="640080"/>
          </a:xfrm>
          <a:prstGeom prst="ellipse">
            <a:avLst/>
          </a:prstGeom>
          <a:solidFill>
            <a:srgbClr val="1E2C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971800" y="4389120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749040" y="4434840"/>
            <a:ext cx="640080" cy="640080"/>
          </a:xfrm>
          <a:prstGeom prst="ellipse">
            <a:avLst/>
          </a:prstGeom>
          <a:solidFill>
            <a:srgbClr val="1E2C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389120" y="4389120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166360" y="4434840"/>
            <a:ext cx="640080" cy="640080"/>
          </a:xfrm>
          <a:prstGeom prst="ellipse">
            <a:avLst/>
          </a:prstGeom>
          <a:solidFill>
            <a:srgbClr val="1E2C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806440" y="4389120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583680" y="4434840"/>
            <a:ext cx="640080" cy="640080"/>
          </a:xfrm>
          <a:prstGeom prst="ellipse">
            <a:avLst/>
          </a:prstGeom>
          <a:solidFill>
            <a:srgbClr val="1E2C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223760" y="4389120"/>
            <a:ext cx="777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001000" y="4434840"/>
            <a:ext cx="640080" cy="640080"/>
          </a:xfrm>
          <a:prstGeom prst="ellipse">
            <a:avLst/>
          </a:prstGeom>
          <a:solidFill>
            <a:srgbClr val="1E2C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Atyrson Souto da Silva  ·  Caio Venâncio do Rosário  ·  Diogo Rodrigues Barboza  ·  Nathan Batista Santos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Brasília, 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Contexto e mercado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" y="1417320"/>
            <a:ext cx="6492240" cy="4709160"/>
          </a:xfrm>
          <a:prstGeom prst="roundRect">
            <a:avLst>
              <a:gd fmla="val 15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22960" y="164592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O conceito JARVIS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22960" y="2103120"/>
            <a:ext cx="58521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Amazon Echo (2014) como benchmark funcional: primeiro smart speaker de sucesso comercial, processamento em nuvem via Alexa Voice Service.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JARVIS funde essa referência com o conceito ficcional de assistente pessoal proativo, implementado em hardware acessível (ESP32).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Foco: reconhecimento de wake word, TTS em tempo real, automação residencial e monitoramento ambiental.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Público-alvo: entusiastas de automação residencial, desenvolvedores e o setor de acessibilidade (mobilidade e deficiência visual).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269480" y="1417320"/>
            <a:ext cx="43891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498080" y="15544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2014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281160" y="155448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Lançamento 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Amazon Echo original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269480" y="3108960"/>
            <a:ext cx="43891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498080" y="324612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50%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281160" y="324612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CPU do Echo dedicada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à escuta da wake word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269480" y="4800600"/>
            <a:ext cx="43891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498080" y="49377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281160" y="493776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Microcontrolador único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(ESP32) no lugar 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Cortex-A8 + nuvem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D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Arquitetura geral do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0868" y="1965960"/>
            <a:ext cx="1965960" cy="2468880"/>
          </a:xfrm>
          <a:prstGeom prst="roundRect">
            <a:avLst>
              <a:gd fmla="val 4651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203808" y="2221992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32308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Celular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50596" y="3520440"/>
            <a:ext cx="1746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Grava a voz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do usuário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506828" y="288036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826868" y="1965960"/>
            <a:ext cx="1965960" cy="2468880"/>
          </a:xfrm>
          <a:prstGeom prst="roundRect">
            <a:avLst>
              <a:gd fmla="val 4651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489808" y="2221992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918308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Bot / Raspberry 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936596" y="3520440"/>
            <a:ext cx="1746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Envia o áudio via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POST /queue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92828" y="288036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112868" y="1965960"/>
            <a:ext cx="1965960" cy="2468880"/>
          </a:xfrm>
          <a:prstGeom prst="roundRect">
            <a:avLst>
              <a:gd fmla="val 4651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775808" y="2221992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204308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222596" y="3520440"/>
            <a:ext cx="1746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Fila + STT (Whisper)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+ streaming HTTP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078828" y="288036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98868" y="1965960"/>
            <a:ext cx="1965960" cy="2468880"/>
          </a:xfrm>
          <a:prstGeom prst="roundRect">
            <a:avLst>
              <a:gd fmla="val 4651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061808" y="2221992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490308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ESP32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508596" y="3520440"/>
            <a:ext cx="1746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GET /audio/stream,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buffer, conversão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364828" y="288036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9684868" y="1965960"/>
            <a:ext cx="1965960" cy="2468880"/>
          </a:xfrm>
          <a:prstGeom prst="roundRect">
            <a:avLst>
              <a:gd fmla="val 4651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0347808" y="2221992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9776308" y="30175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Alto-falante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794596" y="3520440"/>
            <a:ext cx="17465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DAC + PAM8403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reproduzem a resposta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FB0D6"/>
                </a:solidFill>
                <a:latin typeface="Calibri"/>
                <a:ea typeface="Calibri"/>
                <a:cs typeface="Calibri"/>
                <a:sym typeface="Calibri"/>
              </a:rPr>
              <a:t>A entrada de voz foi resolvida com gravação externa (celular) em vez do microfone do ESP32 — decisão que também atendeu ao requisito de sensor vinculado a uma Raspberry Pi.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97280" y="5486400"/>
            <a:ext cx="9966960" cy="822960"/>
          </a:xfrm>
          <a:prstGeom prst="roundRect">
            <a:avLst>
              <a:gd fmla="val 8889" name="adj"/>
            </a:avLst>
          </a:prstGeom>
          <a:solidFill>
            <a:srgbClr val="1B2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final: reprodução (ESP32 → DAC → PAM8403 → alto-falante) e backend (fila, streaming e transcrição) implementados e testados ponta a ponta.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Hardware do projeto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95148" y="155448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23748" y="1783080"/>
            <a:ext cx="594360" cy="59436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455268" y="17830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Microfone eletreto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23748" y="251460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Transdutor acústico: converte pressão sonora em sinal elétrico de baixa amplitude.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289908" y="155448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518508" y="1783080"/>
            <a:ext cx="594360" cy="59436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250028" y="17830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Pré-amplificador LM358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18508" y="251460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Amplificador operacional dual: condiciona o sinal do eletreto para a faixa do ADC.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084668" y="155448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313268" y="1783080"/>
            <a:ext cx="594360" cy="59436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044788" y="17830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ESP32-WROOM DevKit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313268" y="251460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Microcontrolador principal: Wi-Fi, ADC (futuro) e DAC interno (atual).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95148" y="411480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23748" y="4343400"/>
            <a:ext cx="594360" cy="59436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455268" y="434340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PAM8403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23748" y="50749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Amplificador classe D em ponte (BTL): alimenta o alto-falante a partir do DAC.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289908" y="4114800"/>
            <a:ext cx="36118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518508" y="4343400"/>
            <a:ext cx="594360" cy="59436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250028" y="434340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Alto-falante 8 Ω / 0,5 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18508" y="50749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Transdutor de saída: reproduz a resposta de voz sintetizada.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Ligação de saída de áudio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72288" y="169164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63728" y="169164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GPIO25 (DAC1)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941168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398368" y="169164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489808" y="169164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µF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867248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324448" y="169164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15888" y="169164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PAM8403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L-IN / L+ / L-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793328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9250528" y="169164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9341968" y="169164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Alto-falante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Ω / 0,5 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Fonte de 5 V dedicada alimenta o PAM8403 (VCC); GND comum entre ESP32 e o amplificador.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914400" y="3520440"/>
            <a:ext cx="10332720" cy="2606040"/>
          </a:xfrm>
          <a:prstGeom prst="roundRect">
            <a:avLst>
              <a:gd fmla="val 2807" name="adj"/>
            </a:avLst>
          </a:prstGeom>
          <a:solidFill>
            <a:srgbClr val="FFF3EC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188720" y="374904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874520" y="3749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Cuidados na montagem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874520" y="4297680"/>
            <a:ext cx="90525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 positivo do capacitor eletrolítico fica do lado do ESP32.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2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Nunca ligue L- ou R- do PAM8403 ao GND — a saída é em ponte (BTL).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2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Use uma fonte de 5 V própria para o PAM8403, sem sobrecarregar o regulador do ESP32.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2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Comece sempre com volume baixo antes de subir o ganho configurado no firmware.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Firmware: arquitetura FreeRTOS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480560" y="1417320"/>
            <a:ext cx="3200400" cy="594360"/>
          </a:xfrm>
          <a:prstGeom prst="roundRect">
            <a:avLst>
              <a:gd fmla="val 12308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480560" y="14173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wifi_event_handler  (EventGroup: WIFI_CONNECTED_BIT)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188720" y="2423160"/>
            <a:ext cx="4206240" cy="1737360"/>
          </a:xfrm>
          <a:prstGeom prst="roundRect">
            <a:avLst>
              <a:gd fmla="val 5263" name="adj"/>
            </a:avLst>
          </a:prstGeom>
          <a:solidFill>
            <a:srgbClr val="1B2A4D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417320" y="2560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http_task  ·  prioridade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417320" y="292608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GET HTTP para o backend, headers X-Audio-*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6E0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Timeout de 35 s &gt; 30 s de long-poll do 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6E0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Converte PCM16 (s16le) → DAC8 e envia ao StreamBuffer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766560" y="2423160"/>
            <a:ext cx="4206240" cy="1737360"/>
          </a:xfrm>
          <a:prstGeom prst="roundRect">
            <a:avLst>
              <a:gd fmla="val 5263" name="adj"/>
            </a:avLst>
          </a:prstGeom>
          <a:solidFill>
            <a:srgbClr val="1B2A4D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995160" y="2560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playback_task  ·  prioridade 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995160" y="292608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Aguarda o prebuffer (250 ms) antes de tocar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6E0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Consome o StreamBuffer e escreve no DAC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6E0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Detecta underrun e volta a aguardar prebuffer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468112" y="3090672"/>
            <a:ext cx="1225296" cy="493776"/>
          </a:xfrm>
          <a:prstGeom prst="roundRect">
            <a:avLst>
              <a:gd fmla="val 11111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468112" y="3090672"/>
            <a:ext cx="12252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203D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2203D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480560" y="4572000"/>
            <a:ext cx="3200400" cy="594360"/>
          </a:xfrm>
          <a:prstGeom prst="roundRect">
            <a:avLst>
              <a:gd fmla="val 12308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480560" y="45720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DAC contínuo (GPIO25) → PAM8403 → alto-falante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188720" y="5440680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0D6"/>
                </a:solidFill>
                <a:latin typeface="Calibri"/>
                <a:ea typeface="Calibri"/>
                <a:cs typeface="Calibri"/>
                <a:sym typeface="Calibri"/>
              </a:rPr>
              <a:t>app_main(): nvs_flash_init → dac_init → cria StreamBuffer → wifi_init → cria as duas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88720" y="5989320"/>
            <a:ext cx="9784080" cy="502920"/>
          </a:xfrm>
          <a:prstGeom prst="roundRect">
            <a:avLst>
              <a:gd fmla="val 14545" name="adj"/>
            </a:avLst>
          </a:prstGeom>
          <a:solidFill>
            <a:srgbClr val="1B2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417320" y="598932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Prioridade mais alta no playback garante que o áudio nunca perca amostras enquanto a rede está ocupada.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Fluxo de dados e backpressure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0868" y="169164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1523848" y="1965960"/>
            <a:ext cx="640080" cy="64008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523848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23748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Prebuffer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69468" y="3246120"/>
            <a:ext cx="2148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Aguarda ~250 ms de áudio no buffer antes de iniciar a reprodução, evitando começar com dados insuficientes.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146908" y="30632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375508" y="169164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358488" y="19659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358488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558388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Reprodução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604108" y="3246120"/>
            <a:ext cx="2148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playback_task consome o StreamBuffer continuamente e escreve no DAC em blocos de 1024 amostras.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981548" y="30632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210148" y="169164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193128" y="1965960"/>
            <a:ext cx="640080" cy="64008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93128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393028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Buffer cheio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38748" y="3246120"/>
            <a:ext cx="2148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Se a rede entrega mais rápido que o consumo, http_task bloqueia ao enviar — o TCP aplica backpressure ao backend, sem descartar dados.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816188" y="306324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9044788" y="1691640"/>
            <a:ext cx="2606040" cy="32918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10027768" y="19659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0027768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9227668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Underrun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273388" y="3246120"/>
            <a:ext cx="2148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Se o buffer esvazia, o firmware toca silêncio, registra o evento e aguarda recompor o prebuffer antes de continuar.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Nenhum chunk de áudio é descartado por causa de lentidão de rede — o controle de fluxo do TCP absorve a diferença de velocidade.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Contrato do backend HTTP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02920" y="1463040"/>
            <a:ext cx="548640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Formato exigido pelo firmware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10"/>
          <p:cNvGraphicFramePr/>
          <p:nvPr/>
        </p:nvGraphicFramePr>
        <p:xfrm>
          <a:off x="777240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{3C4A5051-B22F-4184-9EA1-2C46F7E715E4}</a:tableStyleId>
              </a:tblPr>
              <a:tblGrid>
                <a:gridCol w="1554475"/>
                <a:gridCol w="3383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cru, sem cabeçalho WAV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Amostra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bits, com sinal, little-endian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(mono)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16.000 Hz (configurável)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Content-Type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application/octet-stream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0"/>
          <p:cNvSpPr/>
          <p:nvPr/>
        </p:nvSpPr>
        <p:spPr>
          <a:xfrm>
            <a:off x="777240" y="46634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Nunca enviar: WAV com cabeçalho, MP3, AAC, Opus, Base64, JSON, estéreo ou amostras float.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77240" y="525780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Blocos de 20–100 ms (640–3.200 bytes) funcionam bem; o tamanho do chunk HTTP não precisa ser constante.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fmla="val 1569" name="adj"/>
            </a:avLst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ourier New"/>
                <a:ea typeface="Courier New"/>
                <a:cs typeface="Courier New"/>
                <a:sym typeface="Courier New"/>
              </a:rPr>
              <a:t>GET /audio/stream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537960" y="2103120"/>
            <a:ext cx="48463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GET /audio/stream HTTP/1.1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Host: 192.168.1.100:8000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Accept: application/octet-stream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X-Audio-Format: pcm_s16le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X-Audio-Sample-Rate: 16000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X-Audio-Channels: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application/octet-stream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Transfer-Encoding: chunked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&lt;bytes PCM s16le mono 16 kHz&gt;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&lt;mais bytes PCM&gt;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537960" y="507492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FB0D6"/>
                </a:solidFill>
                <a:latin typeface="Calibri"/>
                <a:ea typeface="Calibri"/>
                <a:cs typeface="Calibri"/>
                <a:sym typeface="Calibri"/>
              </a:rPr>
              <a:t>A ESP32 é o cliente: ela inicia o GET. O backend responde 200 e mantém o stream aberto enquanto envia os blocos de áudio.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Backend de referência (FastAPI)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03708" y="1554480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95148" y="15544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/queue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(enfileira PCM)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009748" y="18288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329788" y="1554480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421228" y="15544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AudioQueue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(fila em memória)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935828" y="18288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255868" y="1554480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6347308" y="15544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/audio/stream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(long-poll + chunks)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861908" y="18288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9181948" y="1554480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9273388" y="155448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(reproduz)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02920" y="2880360"/>
            <a:ext cx="1115568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Comportamento da AudioQueue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11"/>
          <p:cNvGraphicFramePr/>
          <p:nvPr/>
        </p:nvGraphicFramePr>
        <p:xfrm>
          <a:off x="77724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{3C4A5051-B22F-4184-9EA1-2C46F7E715E4}</a:tableStyleId>
              </a:tblPr>
              <a:tblGrid>
                <a:gridCol w="4937750"/>
                <a:gridCol w="56692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conecta com fila vazia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Bloqueia (long-poll) até 30 s; expira → 204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enqueue() chamado 2x seguidas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Substitui: o áudio mais recente vence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desconecta no meio do stream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Áudio preservado; reconexão reentrega o mesmo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streams simultâneos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1º prossegue; 2º recebe 409 Conflict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Áudio maior que a RAM do servidor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Chunks de 1.280 bytes sob demanda; memória constante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Transcrição de voz e testes automatizados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02920" y="1463040"/>
            <a:ext cx="544068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POST /transcribe (Whisper)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77240" y="214884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Recebe o caminho de um áudio já salvo no servidor.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2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WhisperTranscriber carrega o modelo "base" do openai-whisper uma única vez, na inicialização.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2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Implementa a interface Transcriber, desacoplada das rotas HTTP e do AudioQueue.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2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Esqueleto de faster-whisper já criado para uma futura troca de motor sem alterar rotas.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77240" y="5029200"/>
            <a:ext cx="4937760" cy="914400"/>
          </a:xfrm>
          <a:prstGeom prst="roundRect">
            <a:avLst>
              <a:gd fmla="val 6000" name="adj"/>
            </a:avLst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960120" y="50292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6E0F5"/>
                </a:solidFill>
                <a:latin typeface="Courier New"/>
                <a:ea typeface="Courier New"/>
                <a:cs typeface="Courier New"/>
                <a:sym typeface="Courier New"/>
              </a:rPr>
              <a:t>curl -X POST /transcribe -d '{"audio_path": "uploads/arquivo.mp3"}'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17920" y="1463040"/>
            <a:ext cx="544068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Suíte de testes (pytest)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12"/>
          <p:cNvGraphicFramePr/>
          <p:nvPr/>
        </p:nvGraphicFramePr>
        <p:xfrm>
          <a:off x="6492240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{3C4A5051-B22F-4184-9EA1-2C46F7E715E4}</a:tableStyleId>
              </a:tblPr>
              <a:tblGrid>
                <a:gridCol w="2468875"/>
                <a:gridCol w="2468875"/>
              </a:tblGrid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950"/>
                        <a:buFont typeface="Courier New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2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test_audio_queue.py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Fila, bloqueio, substituição, concorrência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950"/>
                        <a:buFont typeface="Courier New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2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test_pcm.py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Validação de PCM e extração de WAV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950"/>
                        <a:buFont typeface="Courier New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2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test_routes.py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os endpoints via ASGITransport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950"/>
                        <a:buFont typeface="Courier New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2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test_firmware_integration.py</a:t>
                      </a:r>
                      <a:endParaRPr sz="9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Servidor real + contrato exato do ESP32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12"/>
          <p:cNvSpPr/>
          <p:nvPr/>
        </p:nvSpPr>
        <p:spPr>
          <a:xfrm>
            <a:off x="6492240" y="411480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O teste de integração lê o próprio http_audio_player.c para confirmar que o timeout HTTP do firmware (35 s) é maior que o long-poll do backend (30 s) — e reproduz os mesmos headers e leituras de 2048 bytes que a ESP32 usa.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Comparativo com produtos comerciais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13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{3C4A5051-B22F-4184-9EA1-2C46F7E715E4}</a:tableStyleId>
              </a:tblPr>
              <a:tblGrid>
                <a:gridCol w="1828800"/>
                <a:gridCol w="2331725"/>
                <a:gridCol w="2331725"/>
                <a:gridCol w="2331725"/>
                <a:gridCol w="2331725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Echo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(1ª ger., 2015)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Nest Mini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(2ª ger., 2019)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 HomePod mini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(2020)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JARVIS (ESP32)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3D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Processador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ARM Cortex-A8 1 GHz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Quad-Core ARM 1,4 GHz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 S5 Dual-Core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Xtensa Dual-Core 240 MHz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35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Conectividade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Wi-Fi dual-band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Wi-Fi 5 + BT 5.0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Wi-Fi 4 + BT 5.0 + Thread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Wi-Fi 4 (2,4 GHz) + 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35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Microfones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(arranjo circular)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(campo distante)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(campo distante)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(eletreto)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35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Preço estimado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US$ 179 (lançamento)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US$ 49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2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US$ 99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US$ 20 em componentes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35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13"/>
          <p:cNvSpPr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não compete em poder computacional — sua proposta é privacidade local, código aberto e custo drasticamente menor.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D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Limitações e desafios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540868" y="155448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769468" y="17830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1455268" y="173736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Periférico I2S0 compartilhado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769468" y="2377440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ADC contínuo e DAC contínuo usam o mesmo bloco de hardware — captura e reprodução simultâneas exigem alternância de estado.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255868" y="155448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6484468" y="17830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7170268" y="173736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DAC de 8 bits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484468" y="2377440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Reprodução com mais ruído de quantização do que uma solução I2S externa dedicada (ex.: MAX98357A).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40868" y="361188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69468" y="38404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1455268" y="379476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Wi-Fi 4, 2,4 GHz apenas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69468" y="4434840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Sem banda dupla nem SPDY: mais suscetível a congestionamento e variação de latência.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6255868" y="3611880"/>
            <a:ext cx="5394960" cy="1783080"/>
          </a:xfrm>
          <a:prstGeom prst="roundRect">
            <a:avLst>
              <a:gd fmla="val 5128" name="adj"/>
            </a:avLst>
          </a:prstGeom>
          <a:solidFill>
            <a:srgbClr val="1B2A4D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6484468" y="38404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7170268" y="379476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Sem AEC nem beamforming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484468" y="4434840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0E0"/>
                </a:solidFill>
                <a:latin typeface="Calibri"/>
                <a:ea typeface="Calibri"/>
                <a:cs typeface="Calibri"/>
                <a:sym typeface="Calibri"/>
              </a:rPr>
              <a:t>Um único microfone eletreto, sem cancelamento de eco — volume de reprodução precisa ficar controlado.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/>
          <p:nvPr/>
        </p:nvSpPr>
        <p:spPr>
          <a:xfrm>
            <a:off x="502920" y="365760"/>
            <a:ext cx="822960" cy="822960"/>
          </a:xfrm>
          <a:prstGeom prst="ellipse">
            <a:avLst/>
          </a:prstGeom>
          <a:solidFill>
            <a:srgbClr val="1220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1508760" y="36576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Decisões de projeto e extensões futuras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JARVIS · ESP32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502920" y="1463040"/>
            <a:ext cx="111556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1463040" y="164592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Por que a entrada de voz não usa o microfone do ESP32?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463040" y="201168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O hardware de captura (eletreto + LM358) foi definido para uso futuro com o ADC do ESP32. Nesta entrega, a captura foi resolvida gravando no celular e enviando por um cliente/bot hospedado em uma Raspberry Pi — o que também cobriu o requisito de sensor vinculado a uma Raspberry Pi, sem duplicar infraestrutura.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499720" y="3246120"/>
            <a:ext cx="260604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1528420" y="3474720"/>
            <a:ext cx="548640" cy="54864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528420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636880" y="4160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Captura nativa no ESP32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682600" y="470916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adc_continuous para eletreto + LM358, alternando com o DAC no mesmo periférico I2S0.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361792" y="3246120"/>
            <a:ext cx="260604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4390492" y="3474720"/>
            <a:ext cx="548640" cy="54864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4390492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3498952" y="4160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TTS integrado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3544672" y="470916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O pacote services/tts/ já está reservado; falta plugar um provedor e converter para PCM s16le 16 kHz.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223864" y="3246120"/>
            <a:ext cx="260604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7252564" y="3474720"/>
            <a:ext cx="548640" cy="54864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7252564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361024" y="4160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LLM para respostas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6406744" y="470916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Consumir o texto do /transcribe e gerar a resposta que o TTS sintetizaria.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9085936" y="3246120"/>
            <a:ext cx="260604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A0F1F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0114636" y="3474720"/>
            <a:ext cx="548640" cy="548640"/>
          </a:xfrm>
          <a:prstGeom prst="ellipse">
            <a:avLst/>
          </a:prstGeom>
          <a:solidFill>
            <a:srgbClr val="3A5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10114636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9223096" y="4160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0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2203D"/>
                </a:solidFill>
                <a:latin typeface="Cambria"/>
                <a:ea typeface="Cambria"/>
                <a:cs typeface="Cambria"/>
                <a:sym typeface="Cambria"/>
              </a:rPr>
              <a:t>faster-whisper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9268816" y="470916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Esqueleto já criado para trocar o motor de STT por uma opção mais rápida.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03D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"/>
          <p:cNvSpPr/>
          <p:nvPr/>
        </p:nvSpPr>
        <p:spPr>
          <a:xfrm>
            <a:off x="822960" y="640080"/>
            <a:ext cx="1005840" cy="10058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2057400" y="6400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822960" y="1965960"/>
            <a:ext cx="10515600" cy="4023360"/>
          </a:xfrm>
          <a:prstGeom prst="roundRect">
            <a:avLst>
              <a:gd fmla="val 1818" name="adj"/>
            </a:avLst>
          </a:prstGeom>
          <a:solidFill>
            <a:srgbClr val="1B2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1097280" y="2194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mbria"/>
                <a:ea typeface="Cambria"/>
                <a:cs typeface="Cambria"/>
                <a:sym typeface="Cambria"/>
              </a:rPr>
              <a:t>Principais referências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097280" y="2697480"/>
            <a:ext cx="99669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6E0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ZHANG, Y. et al. Hello Edge: Keyword Spotting on Microcontrollers. arXiv:1711.07128, 2017.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D6E0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CERUTTI, G. et al. Sub-mW Keyword Spotting on an MCU. arXiv:2201.03386, 2022.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D6E0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LI, Y.; KIM, S.; SY, E. A survey on Amazon Alexa attack surfaces. arXiv:2102.11442, 2021.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D6E0F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6E0F5"/>
                </a:solidFill>
                <a:latin typeface="Calibri"/>
                <a:ea typeface="Calibri"/>
                <a:cs typeface="Calibri"/>
                <a:sym typeface="Calibri"/>
              </a:rPr>
              <a:t>IFIXIT. Amazon Echo Teardown. 2014.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0C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A0C6"/>
                </a:solidFill>
                <a:latin typeface="Calibri"/>
                <a:ea typeface="Calibri"/>
                <a:cs typeface="Calibri"/>
                <a:sym typeface="Calibri"/>
              </a:rPr>
              <a:t>Atyrson Souto da Silva · Caio Venâncio do Rosário · Diogo Rodrigues Barboza · Nathan Batista Santos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